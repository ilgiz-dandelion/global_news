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711311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3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498605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4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07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00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24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64445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728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07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6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24348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D9D6BF1-DFF2-4526-9D13-BF339D8C4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54D4DB6-FB18-4CAE-8905-E0053C925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KG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DBD6488-9429-4FFA-8AE8-C4022C39B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KG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52EEDBC-5DD8-A348-F956-B11D8A3D60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" b="1"/>
          <a:stretch>
            <a:fillRect/>
          </a:stretch>
        </p:blipFill>
        <p:spPr>
          <a:xfrm>
            <a:off x="20" y="10"/>
            <a:ext cx="12191980" cy="68593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10B1DD0-264A-47E3-A16A-C87AFA51E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69C1BB7B-F21E-41A2-B30C-D8507B960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KG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DF6D7DDE-F8A1-4105-9729-F9EB5F81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KG"/>
          </a:p>
        </p:txBody>
      </p:sp>
      <p:sp>
        <p:nvSpPr>
          <p:cNvPr id="2" name="TextBox 1"/>
          <p:cNvSpPr txBox="1"/>
          <p:nvPr/>
        </p:nvSpPr>
        <p:spPr>
          <a:xfrm>
            <a:off x="1915128" y="1788454"/>
            <a:ext cx="8361229" cy="20982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  <a:defRPr sz="4400" b="1"/>
            </a:pPr>
            <a:r>
              <a:rPr lang="en-US" sz="3400" cap="all" spc="-1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Анализ эмоциональной окраски новостей</a:t>
            </a:r>
          </a:p>
          <a:p>
            <a:pPr algn="ctr"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  <a:defRPr sz="2400"/>
            </a:pPr>
            <a:r>
              <a:rPr lang="en-US" sz="3400" cap="all" spc="-1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NLP-проект: Sentiment Analysis &amp; Topic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97F59D-628C-4053-B41F-489D0045F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G"/>
          </a:p>
        </p:txBody>
      </p:sp>
      <p:sp>
        <p:nvSpPr>
          <p:cNvPr id="2" name="TextBox 1"/>
          <p:cNvSpPr txBox="1"/>
          <p:nvPr/>
        </p:nvSpPr>
        <p:spPr>
          <a:xfrm>
            <a:off x="640081" y="791570"/>
            <a:ext cx="4018839" cy="5262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  <a:defRPr sz="3600" b="1"/>
            </a:pPr>
            <a:r>
              <a:rPr lang="en-US" sz="54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Цели и задачи проекта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G"/>
          </a:p>
        </p:txBody>
      </p:sp>
      <p:sp>
        <p:nvSpPr>
          <p:cNvPr id="3" name="TextBox 2"/>
          <p:cNvSpPr txBox="1"/>
          <p:nvPr/>
        </p:nvSpPr>
        <p:spPr>
          <a:xfrm>
            <a:off x="6176720" y="791570"/>
            <a:ext cx="4892308" cy="5262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384048" defTabSz="914400">
              <a:lnSpc>
                <a:spcPct val="94000"/>
              </a:lnSpc>
              <a:spcAft>
                <a:spcPts val="200"/>
              </a:spcAft>
              <a:buClr>
                <a:schemeClr val="tx1">
                  <a:lumMod val="85000"/>
                  <a:lumOff val="15000"/>
                </a:schemeClr>
              </a:buClr>
              <a:buFont typeface="Franklin Gothic Book" panose="020B0503020102020204" pitchFamily="34" charset="0"/>
              <a:buChar char="◦"/>
              <a:defRPr sz="2000"/>
            </a:pPr>
            <a:r>
              <a:rPr lang="en-US" sz="2000">
                <a:solidFill>
                  <a:schemeClr val="tx2"/>
                </a:solidFill>
              </a:rPr>
              <a:t>Исследовательские вопросы: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Clr>
                <a:schemeClr val="tx1">
                  <a:lumMod val="85000"/>
                  <a:lumOff val="15000"/>
                </a:schemeClr>
              </a:buClr>
              <a:buFont typeface="Franklin Gothic Book" panose="020B0503020102020204" pitchFamily="34" charset="0"/>
              <a:buChar char="◦"/>
              <a:defRPr sz="2000"/>
            </a:pPr>
            <a:r>
              <a:rPr lang="en-US" sz="2000">
                <a:solidFill>
                  <a:schemeClr val="tx2"/>
                </a:solidFill>
              </a:rPr>
              <a:t>1. Различаются ли медиа-источники по эмоциональной подаче?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Clr>
                <a:schemeClr val="tx1">
                  <a:lumMod val="85000"/>
                  <a:lumOff val="15000"/>
                </a:schemeClr>
              </a:buClr>
              <a:buFont typeface="Franklin Gothic Book" panose="020B0503020102020204" pitchFamily="34" charset="0"/>
              <a:buChar char="◦"/>
              <a:defRPr sz="2000"/>
            </a:pPr>
            <a:r>
              <a:rPr lang="en-US" sz="2000">
                <a:solidFill>
                  <a:schemeClr val="tx2"/>
                </a:solidFill>
              </a:rPr>
              <a:t>2. Какие темы формируются в медиапространстве?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Clr>
                <a:schemeClr val="tx1">
                  <a:lumMod val="85000"/>
                  <a:lumOff val="15000"/>
                </a:schemeClr>
              </a:buClr>
              <a:buFont typeface="Franklin Gothic Book" panose="020B0503020102020204" pitchFamily="34" charset="0"/>
              <a:buChar char="◦"/>
              <a:defRPr sz="2000"/>
            </a:pPr>
            <a:r>
              <a:rPr lang="en-US" sz="2000">
                <a:solidFill>
                  <a:schemeClr val="tx2"/>
                </a:solidFill>
              </a:rPr>
              <a:t>3. Меняется ли эмоциональный фон во времени?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Clr>
                <a:schemeClr val="tx1">
                  <a:lumMod val="85000"/>
                  <a:lumOff val="15000"/>
                </a:schemeClr>
              </a:buClr>
              <a:buFont typeface="Franklin Gothic Book" panose="020B0503020102020204" pitchFamily="34" charset="0"/>
              <a:buChar char="◦"/>
              <a:defRPr sz="2000"/>
            </a:pPr>
            <a:r>
              <a:rPr lang="en-US" sz="2000">
                <a:solidFill>
                  <a:schemeClr val="tx2"/>
                </a:solidFill>
              </a:rPr>
              <a:t>4. Можно ли группировать источники по семантическому сходству?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Clr>
                <a:schemeClr val="tx1">
                  <a:lumMod val="85000"/>
                  <a:lumOff val="15000"/>
                </a:schemeClr>
              </a:buClr>
              <a:buFont typeface="Franklin Gothic Book" panose="020B0503020102020204" pitchFamily="34" charset="0"/>
              <a:buChar char="◦"/>
              <a:defRPr sz="2000"/>
            </a:pPr>
            <a:endParaRPr lang="en-US" sz="2000">
              <a:solidFill>
                <a:schemeClr val="tx2"/>
              </a:solidFill>
            </a:endParaRP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Clr>
                <a:schemeClr val="tx1">
                  <a:lumMod val="85000"/>
                  <a:lumOff val="15000"/>
                </a:schemeClr>
              </a:buClr>
              <a:buFont typeface="Franklin Gothic Book" panose="020B0503020102020204" pitchFamily="34" charset="0"/>
              <a:buChar char="◦"/>
              <a:defRPr sz="2000"/>
            </a:pPr>
            <a:r>
              <a:rPr lang="en-US" sz="2000">
                <a:solidFill>
                  <a:schemeClr val="tx2"/>
                </a:solidFill>
              </a:rPr>
              <a:t>Практическая ценность: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Clr>
                <a:schemeClr val="tx1">
                  <a:lumMod val="85000"/>
                  <a:lumOff val="15000"/>
                </a:schemeClr>
              </a:buClr>
              <a:buFont typeface="Franklin Gothic Book" panose="020B0503020102020204" pitchFamily="34" charset="0"/>
              <a:buChar char="◦"/>
              <a:defRPr sz="2000"/>
            </a:pPr>
            <a:r>
              <a:rPr lang="en-US" sz="2000">
                <a:solidFill>
                  <a:schemeClr val="tx2"/>
                </a:solidFill>
              </a:rPr>
              <a:t>• Медиа-мониторинг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Clr>
                <a:schemeClr val="tx1">
                  <a:lumMod val="85000"/>
                  <a:lumOff val="15000"/>
                </a:schemeClr>
              </a:buClr>
              <a:buFont typeface="Franklin Gothic Book" panose="020B0503020102020204" pitchFamily="34" charset="0"/>
              <a:buChar char="◦"/>
              <a:defRPr sz="2000"/>
            </a:pPr>
            <a:r>
              <a:rPr lang="en-US" sz="2000">
                <a:solidFill>
                  <a:schemeClr val="tx2"/>
                </a:solidFill>
              </a:rPr>
              <a:t>• Репутационный анализ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Clr>
                <a:schemeClr val="tx1">
                  <a:lumMod val="85000"/>
                  <a:lumOff val="15000"/>
                </a:schemeClr>
              </a:buClr>
              <a:buFont typeface="Franklin Gothic Book" panose="020B0503020102020204" pitchFamily="34" charset="0"/>
              <a:buChar char="◦"/>
              <a:defRPr sz="2000"/>
            </a:pPr>
            <a:r>
              <a:rPr lang="en-US" sz="2000">
                <a:solidFill>
                  <a:schemeClr val="tx2"/>
                </a:solidFill>
              </a:rPr>
              <a:t>• Выявление информационного bias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KG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KG"/>
            </a:p>
          </p:txBody>
        </p:sp>
      </p:grp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154186" y="634028"/>
            <a:ext cx="3355942" cy="37328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  <a:defRPr sz="3600" b="1"/>
            </a:pPr>
            <a:r>
              <a:rPr lang="en-US" sz="6000" cap="all" spc="-1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Датасет</a:t>
            </a: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KG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KG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500116"/>
              </p:ext>
            </p:extLst>
          </p:nvPr>
        </p:nvGraphicFramePr>
        <p:xfrm>
          <a:off x="1379023" y="2331756"/>
          <a:ext cx="5659224" cy="239368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32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7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9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6031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lang="ru-RU" sz="2600"/>
                        <a:t>Файл</a:t>
                      </a:r>
                    </a:p>
                  </a:txBody>
                  <a:tcPr marL="152169" marR="152169" marT="76085" marB="76085"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lang="ru-RU" sz="2600"/>
                        <a:t>Записей</a:t>
                      </a:r>
                    </a:p>
                  </a:txBody>
                  <a:tcPr marL="152169" marR="152169" marT="76085" marB="76085"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lang="ru-RU" sz="2600"/>
                        <a:t>Описание</a:t>
                      </a:r>
                    </a:p>
                  </a:txBody>
                  <a:tcPr marL="152169" marR="152169" marT="76085" marB="7608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382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2400"/>
                        <a:t>raw-data.csv</a:t>
                      </a:r>
                    </a:p>
                  </a:txBody>
                  <a:tcPr marL="152169" marR="152169" marT="76085" marB="7608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KG" sz="2400"/>
                        <a:t>933,257</a:t>
                      </a:r>
                    </a:p>
                  </a:txBody>
                  <a:tcPr marL="152169" marR="152169" marT="76085" marB="7608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ru-RU" sz="2400"/>
                        <a:t>Сырые данные</a:t>
                      </a:r>
                    </a:p>
                  </a:txBody>
                  <a:tcPr marL="152169" marR="152169" marT="76085" marB="7608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382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2400"/>
                        <a:t>rating.csv</a:t>
                      </a:r>
                    </a:p>
                  </a:txBody>
                  <a:tcPr marL="152169" marR="152169" marT="76085" marB="7608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KG" sz="2400"/>
                        <a:t>58,356</a:t>
                      </a:r>
                    </a:p>
                  </a:txBody>
                  <a:tcPr marL="152169" marR="152169" marT="76085" marB="7608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ru-RU" sz="2400"/>
                        <a:t>С </a:t>
                      </a:r>
                      <a:r>
                        <a:rPr lang="en-US" sz="2400"/>
                        <a:t>sentiment labels</a:t>
                      </a:r>
                    </a:p>
                  </a:txBody>
                  <a:tcPr marL="152169" marR="152169" marT="76085" marB="7608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KG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KG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E954AF0-B5CC-4A16-ACDA-675B5694F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325322DD-3792-4947-A96A-1B6D9D786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983434" y="640080"/>
            <a:ext cx="2296028" cy="3674981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KG"/>
          </a:p>
        </p:txBody>
      </p:sp>
      <p:sp>
        <p:nvSpPr>
          <p:cNvPr id="2" name="TextBox 1"/>
          <p:cNvSpPr txBox="1"/>
          <p:nvPr/>
        </p:nvSpPr>
        <p:spPr>
          <a:xfrm>
            <a:off x="8569666" y="1314922"/>
            <a:ext cx="3176246" cy="30001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  <a:defRPr sz="3600" b="1"/>
            </a:pPr>
            <a:r>
              <a:rPr lang="en-US" sz="4100" cap="all">
                <a:solidFill>
                  <a:schemeClr val="tx2"/>
                </a:solidFill>
                <a:latin typeface="+mj-lt"/>
                <a:ea typeface="+mj-ea"/>
                <a:cs typeface="+mj-cs"/>
              </a:rPr>
              <a:t>Распределение данных (до обработки)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327107"/>
              </p:ext>
            </p:extLst>
          </p:nvPr>
        </p:nvGraphicFramePr>
        <p:xfrm>
          <a:off x="634275" y="1928355"/>
          <a:ext cx="6900381" cy="3001292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2467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2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0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2576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3200" b="0" cap="none" spc="0">
                          <a:solidFill>
                            <a:schemeClr val="bg1"/>
                          </a:solidFill>
                        </a:rPr>
                        <a:t>Sentiment</a:t>
                      </a:r>
                    </a:p>
                  </a:txBody>
                  <a:tcPr marL="184506" marR="184506" marT="184506" marB="9225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3200" b="0" cap="none" spc="0">
                          <a:solidFill>
                            <a:schemeClr val="bg1"/>
                          </a:solidFill>
                        </a:rPr>
                        <a:t>Количество</a:t>
                      </a:r>
                    </a:p>
                  </a:txBody>
                  <a:tcPr marL="184506" marR="184506" marT="184506" marB="9225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3200" b="0" cap="none" spc="0">
                          <a:solidFill>
                            <a:schemeClr val="bg1"/>
                          </a:solidFill>
                        </a:rPr>
                        <a:t>Доля</a:t>
                      </a:r>
                    </a:p>
                  </a:txBody>
                  <a:tcPr marL="184506" marR="184506" marT="184506" marB="9225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57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2400" cap="none" spc="0">
                          <a:solidFill>
                            <a:schemeClr val="tx1"/>
                          </a:solidFill>
                        </a:rPr>
                        <a:t>Neutral</a:t>
                      </a:r>
                    </a:p>
                  </a:txBody>
                  <a:tcPr marL="184506" marR="184506" marT="184506" marB="9225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2400" cap="none" spc="0">
                          <a:solidFill>
                            <a:schemeClr val="tx1"/>
                          </a:solidFill>
                        </a:rPr>
                        <a:t>30,994</a:t>
                      </a:r>
                    </a:p>
                  </a:txBody>
                  <a:tcPr marL="184506" marR="184506" marT="184506" marB="9225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2400" cap="none" spc="0">
                          <a:solidFill>
                            <a:schemeClr val="tx1"/>
                          </a:solidFill>
                        </a:rPr>
                        <a:t>73.5%</a:t>
                      </a:r>
                    </a:p>
                  </a:txBody>
                  <a:tcPr marL="184506" marR="184506" marT="184506" marB="9225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57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2400" cap="none" spc="0">
                          <a:solidFill>
                            <a:schemeClr val="tx1"/>
                          </a:solidFill>
                        </a:rPr>
                        <a:t>Negative</a:t>
                      </a:r>
                    </a:p>
                  </a:txBody>
                  <a:tcPr marL="184506" marR="184506" marT="184506" marB="9225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2400" cap="none" spc="0">
                          <a:solidFill>
                            <a:schemeClr val="tx1"/>
                          </a:solidFill>
                        </a:rPr>
                        <a:t>6,892</a:t>
                      </a:r>
                    </a:p>
                  </a:txBody>
                  <a:tcPr marL="184506" marR="184506" marT="184506" marB="9225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2400" cap="none" spc="0">
                          <a:solidFill>
                            <a:schemeClr val="tx1"/>
                          </a:solidFill>
                        </a:rPr>
                        <a:t>16.3%</a:t>
                      </a:r>
                    </a:p>
                  </a:txBody>
                  <a:tcPr marL="184506" marR="184506" marT="184506" marB="9225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57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2400" cap="none" spc="0">
                          <a:solidFill>
                            <a:schemeClr val="tx1"/>
                          </a:solidFill>
                        </a:rPr>
                        <a:t>Positive</a:t>
                      </a:r>
                    </a:p>
                  </a:txBody>
                  <a:tcPr marL="184506" marR="184506" marT="184506" marB="9225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2400" cap="none" spc="0">
                          <a:solidFill>
                            <a:schemeClr val="tx1"/>
                          </a:solidFill>
                        </a:rPr>
                        <a:t>4,295</a:t>
                      </a:r>
                    </a:p>
                  </a:txBody>
                  <a:tcPr marL="184506" marR="184506" marT="184506" marB="9225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2400" cap="none" spc="0">
                          <a:solidFill>
                            <a:schemeClr val="tx1"/>
                          </a:solidFill>
                        </a:rPr>
                        <a:t>10.2%</a:t>
                      </a:r>
                    </a:p>
                  </a:txBody>
                  <a:tcPr marL="184506" marR="184506" marT="184506" marB="9225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A97F59D-628C-4053-B41F-489D0045F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G"/>
          </a:p>
        </p:txBody>
      </p:sp>
      <p:sp>
        <p:nvSpPr>
          <p:cNvPr id="2" name="TextBox 1"/>
          <p:cNvSpPr txBox="1"/>
          <p:nvPr/>
        </p:nvSpPr>
        <p:spPr>
          <a:xfrm>
            <a:off x="640081" y="791570"/>
            <a:ext cx="4018839" cy="5262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  <a:defRPr sz="3600" b="1"/>
            </a:pPr>
            <a:r>
              <a:rPr lang="en-US" sz="54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Предобработка данных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G"/>
          </a:p>
        </p:txBody>
      </p:sp>
      <p:sp>
        <p:nvSpPr>
          <p:cNvPr id="3" name="TextBox 2"/>
          <p:cNvSpPr txBox="1"/>
          <p:nvPr/>
        </p:nvSpPr>
        <p:spPr>
          <a:xfrm>
            <a:off x="6176720" y="791570"/>
            <a:ext cx="4892308" cy="5262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defRPr sz="2000"/>
            </a:pPr>
            <a:r>
              <a:rPr lang="en-US" sz="2000">
                <a:solidFill>
                  <a:schemeClr val="tx2"/>
                </a:solidFill>
              </a:rPr>
              <a:t>Pipeline: Raw Title → Cleaning → Tokenization → Lemmatization → Processed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defRPr sz="2000"/>
            </a:pPr>
            <a:endParaRPr lang="en-US" sz="2000">
              <a:solidFill>
                <a:schemeClr val="tx2"/>
              </a:solidFill>
            </a:endParaRP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defRPr sz="2000"/>
            </a:pPr>
            <a:r>
              <a:rPr lang="en-US" sz="2000">
                <a:solidFill>
                  <a:schemeClr val="tx2"/>
                </a:solidFill>
              </a:rPr>
              <a:t>Этапы очистки: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defRPr sz="2000"/>
            </a:pPr>
            <a:r>
              <a:rPr lang="en-US" sz="2000">
                <a:solidFill>
                  <a:schemeClr val="tx2"/>
                </a:solidFill>
              </a:rPr>
              <a:t>• URLs — удаление ссылок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defRPr sz="2000"/>
            </a:pPr>
            <a:r>
              <a:rPr lang="en-US" sz="2000">
                <a:solidFill>
                  <a:schemeClr val="tx2"/>
                </a:solidFill>
              </a:rPr>
              <a:t>• HTML entities — &amp;amp; и т.д.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defRPr sz="2000"/>
            </a:pPr>
            <a:r>
              <a:rPr lang="en-US" sz="2000">
                <a:solidFill>
                  <a:schemeClr val="tx2"/>
                </a:solidFill>
              </a:rPr>
              <a:t>• Emojis — не информативны для news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defRPr sz="2000"/>
            </a:pPr>
            <a:r>
              <a:rPr lang="en-US" sz="2000">
                <a:solidFill>
                  <a:schemeClr val="tx2"/>
                </a:solidFill>
              </a:rPr>
              <a:t>• Numbers — без контекста не полезны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defRPr sz="2000"/>
            </a:pPr>
            <a:endParaRPr lang="en-US" sz="2000">
              <a:solidFill>
                <a:schemeClr val="tx2"/>
              </a:solidFill>
            </a:endParaRP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defRPr sz="2000"/>
            </a:pPr>
            <a:r>
              <a:rPr lang="en-US" sz="2000">
                <a:solidFill>
                  <a:schemeClr val="tx2"/>
                </a:solidFill>
              </a:rPr>
              <a:t>Инструменты: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defRPr sz="2000"/>
            </a:pPr>
            <a:r>
              <a:rPr lang="en-US" sz="2000">
                <a:solidFill>
                  <a:schemeClr val="tx2"/>
                </a:solidFill>
              </a:rPr>
              <a:t>• spaCy — токенизация, лемматизация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defRPr sz="2000"/>
            </a:pPr>
            <a:r>
              <a:rPr lang="en-US" sz="2000">
                <a:solidFill>
                  <a:schemeClr val="tx2"/>
                </a:solidFill>
              </a:rPr>
              <a:t>• NLTK — стоп-слова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defRPr sz="2000"/>
            </a:pPr>
            <a:r>
              <a:rPr lang="en-US" sz="2000">
                <a:solidFill>
                  <a:schemeClr val="tx2"/>
                </a:solidFill>
              </a:rPr>
              <a:t>• TF-IDF — векторизация (10,000 features)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Балансировка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Проблема</a:t>
            </a:r>
          </a:p>
          <a:p>
            <a:pPr>
              <a:defRPr sz="1800"/>
            </a:pPr>
            <a:r>
              <a:t>• Neutral доминирует (73%)</a:t>
            </a:r>
          </a:p>
          <a:p>
            <a:pPr>
              <a:defRPr sz="1800"/>
            </a:pPr>
            <a:r>
              <a:t>• Aggressive undersampling = потеря 68%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Решение</a:t>
            </a:r>
          </a:p>
          <a:p>
            <a:pPr>
              <a:defRPr sz="1800"/>
            </a:pPr>
            <a:r>
              <a:t>• Neutral до 2x от Negative</a:t>
            </a:r>
          </a:p>
          <a:p>
            <a:pPr>
              <a:defRPr sz="1800"/>
            </a:pPr>
            <a:r>
              <a:t>• Сохранено 74% данных</a:t>
            </a:r>
          </a:p>
          <a:p>
            <a:pPr>
              <a:defRPr sz="1800"/>
            </a:pPr>
            <a:r>
              <a:t>• class_weight='balanced'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Baseline модель: TF-IDF + Logistic Regression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Метрика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F1-macro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Анализ важности признаков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Negative</a:t>
            </a:r>
          </a:p>
          <a:p>
            <a:pPr>
              <a:defRPr sz="1800"/>
            </a:pPr>
            <a:r>
              <a:t>• war, killed, attack</a:t>
            </a:r>
          </a:p>
          <a:p>
            <a:pPr>
              <a:defRPr sz="1800"/>
            </a:pPr>
            <a:r>
              <a:t>• death, crisis, gaza</a:t>
            </a:r>
          </a:p>
          <a:p>
            <a:pPr>
              <a:defRPr sz="1800"/>
            </a:pPr>
            <a:r>
              <a:t>• hamas, conflict, violence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Positive</a:t>
            </a:r>
          </a:p>
          <a:p>
            <a:pPr>
              <a:defRPr sz="1800"/>
            </a:pPr>
            <a:r>
              <a:t>• best, win, success</a:t>
            </a:r>
          </a:p>
          <a:p>
            <a:pPr>
              <a:defRPr sz="1800"/>
            </a:pPr>
            <a:r>
              <a:t>• growth, award, launch</a:t>
            </a:r>
          </a:p>
          <a:p>
            <a:pPr>
              <a:defRPr sz="1800"/>
            </a:pPr>
            <a:r>
              <a:t>• innovation, breakthrough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Семантические эмбеддинги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F1-macro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TF-IDF + LogReg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Embeddings + LogReg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Embeddings +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Кластеризация (UMAP + KMeans)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Keywords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Интерпретация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14,193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market, billion,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Business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8,543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nyse, nasdaq, shares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8,526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israel, gaza, war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Geopolitics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Sentiment по кластерам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Geopolitics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BERTopic — Topic Modeling (43 темы)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Sentiment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Gaza / Israel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-0.65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Ukraine / Russia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Black Friday / Deals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+0.59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Murder / Police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Temporal Train/Test Split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Random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Temporal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TF-IDF + LogReg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-7.4%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Embeddings + LogReg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-5.4%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Ensemble Voting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Ensemble методы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Soft Voting:</a:t>
            </a:r>
          </a:p>
          <a:p>
            <a:pPr>
              <a:spcAft>
                <a:spcPts val="1200"/>
              </a:spcAft>
              <a:defRPr sz="2000"/>
            </a:pPr>
            <a:r>
              <a:t>P(class) = 0.5 × P_tfidf + 0.5 × P_embeddings</a:t>
            </a:r>
          </a:p>
          <a:p>
            <a:pPr>
              <a:spcAft>
                <a:spcPts val="1200"/>
              </a:spcAft>
              <a:defRPr sz="2000"/>
            </a:pPr>
            <a:endParaRPr/>
          </a:p>
          <a:p>
            <a:pPr>
              <a:spcAft>
                <a:spcPts val="1200"/>
              </a:spcAft>
              <a:defRPr sz="2000"/>
            </a:pPr>
            <a:r>
              <a:t>F1-macro: 75.6% — лучший результат</a:t>
            </a:r>
          </a:p>
          <a:p>
            <a:pPr>
              <a:spcAft>
                <a:spcPts val="1200"/>
              </a:spcAft>
              <a:defRPr sz="2000"/>
            </a:pPr>
            <a:endParaRPr/>
          </a:p>
          <a:p>
            <a:pPr>
              <a:spcAft>
                <a:spcPts val="1200"/>
              </a:spcAft>
              <a:defRPr sz="2000"/>
            </a:pPr>
            <a:r>
              <a:t>Почему Voting лучше:</a:t>
            </a:r>
          </a:p>
          <a:p>
            <a:pPr>
              <a:spcAft>
                <a:spcPts val="1200"/>
              </a:spcAft>
              <a:defRPr sz="2000"/>
            </a:pPr>
            <a:r>
              <a:t>• Модели делают разные ошибки</a:t>
            </a:r>
          </a:p>
          <a:p>
            <a:pPr>
              <a:spcAft>
                <a:spcPts val="1200"/>
              </a:spcAft>
              <a:defRPr sz="2000"/>
            </a:pPr>
            <a:r>
              <a:t>• Усреднение снижает variance</a:t>
            </a:r>
          </a:p>
          <a:p>
            <a:pPr>
              <a:spcAft>
                <a:spcPts val="1200"/>
              </a:spcAft>
              <a:defRPr sz="2000"/>
            </a:pPr>
            <a:r>
              <a:t>• Не увеличивает число параметров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BERT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Модель: cardiffnlp/twitter-roberta-base-sentiment</a:t>
            </a:r>
          </a:p>
          <a:p>
            <a:pPr>
              <a:spcAft>
                <a:spcPts val="1200"/>
              </a:spcAft>
              <a:defRPr sz="2000"/>
            </a:pPr>
            <a:r>
              <a:t>• 125M параметров</a:t>
            </a:r>
          </a:p>
          <a:p>
            <a:pPr>
              <a:spcAft>
                <a:spcPts val="1200"/>
              </a:spcAft>
              <a:defRPr sz="2000"/>
            </a:pPr>
            <a:r>
              <a:t>• Pre-trained на Twitter data</a:t>
            </a:r>
          </a:p>
          <a:p>
            <a:pPr>
              <a:spcAft>
                <a:spcPts val="1200"/>
              </a:spcAft>
              <a:defRPr sz="2000"/>
            </a:pPr>
            <a:endParaRPr/>
          </a:p>
          <a:p>
            <a:pPr>
              <a:spcAft>
                <a:spcPts val="1200"/>
              </a:spcAft>
              <a:defRPr sz="2000"/>
            </a:pPr>
            <a:r>
              <a:t>Результаты:</a:t>
            </a:r>
          </a:p>
          <a:p>
            <a:pPr>
              <a:spcAft>
                <a:spcPts val="1200"/>
              </a:spcAft>
              <a:defRPr sz="2000"/>
            </a:pPr>
            <a:r>
              <a:t>• Test Accuracy: 94.3%</a:t>
            </a:r>
          </a:p>
          <a:p>
            <a:pPr>
              <a:spcAft>
                <a:spcPts val="1200"/>
              </a:spcAft>
              <a:defRPr sz="2000"/>
            </a:pPr>
            <a:r>
              <a:t>• Test F1-macro: 94.0%</a:t>
            </a:r>
          </a:p>
          <a:p>
            <a:pPr>
              <a:spcAft>
                <a:spcPts val="1200"/>
              </a:spcAft>
              <a:defRPr sz="2000"/>
            </a:pPr>
            <a:endParaRPr/>
          </a:p>
          <a:p>
            <a:pPr>
              <a:spcAft>
                <a:spcPts val="1200"/>
              </a:spcAft>
              <a:defRPr sz="2000"/>
            </a:pPr>
            <a:r>
              <a:t>Важно: Высокий результат потому что та же модель делала labeling.</a:t>
            </a:r>
          </a:p>
          <a:p>
            <a:pPr>
              <a:spcAft>
                <a:spcPts val="1200"/>
              </a:spcAft>
              <a:defRPr sz="2000"/>
            </a:pPr>
            <a:r>
              <a:t>Это upper bound, не realistic production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Сравнение всех моделей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F1-macro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TF-IDF + LogReg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Embeddings + LogReg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+0.9%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TF-IDF (Temporal)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Realistic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Embeddings (Temporal)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Realistic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Ensemble (Temporal)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BERT Fine-tuned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Upper 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Ключевые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Q1: Различаются ли источники?</a:t>
            </a:r>
          </a:p>
          <a:p>
            <a:pPr>
              <a:spcAft>
                <a:spcPts val="1200"/>
              </a:spcAft>
              <a:defRPr sz="2000"/>
            </a:pPr>
            <a:r>
              <a:t>✓ Да. Al Jazeera: -0.55, ETF Daily News: +0.09</a:t>
            </a:r>
          </a:p>
          <a:p>
            <a:pPr>
              <a:spcAft>
                <a:spcPts val="1200"/>
              </a:spcAft>
              <a:defRPr sz="2000"/>
            </a:pPr>
            <a:endParaRPr/>
          </a:p>
          <a:p>
            <a:pPr>
              <a:spcAft>
                <a:spcPts val="1200"/>
              </a:spcAft>
              <a:defRPr sz="2000"/>
            </a:pPr>
            <a:r>
              <a:t>Q2: Какие темы формируются?</a:t>
            </a:r>
          </a:p>
          <a:p>
            <a:pPr>
              <a:spcAft>
                <a:spcPts val="1200"/>
              </a:spcAft>
              <a:defRPr sz="2000"/>
            </a:pPr>
            <a:r>
              <a:t>✓ 3 макро-кластера + 43 детальных темы</a:t>
            </a:r>
          </a:p>
          <a:p>
            <a:pPr>
              <a:spcAft>
                <a:spcPts val="1200"/>
              </a:spcAft>
              <a:defRPr sz="2000"/>
            </a:pPr>
            <a:endParaRPr/>
          </a:p>
          <a:p>
            <a:pPr>
              <a:spcAft>
                <a:spcPts val="1200"/>
              </a:spcAft>
              <a:defRPr sz="2000"/>
            </a:pPr>
            <a:r>
              <a:t>Q3: Меняется ли sentiment во времени?</a:t>
            </a:r>
          </a:p>
          <a:p>
            <a:pPr>
              <a:spcAft>
                <a:spcPts val="1200"/>
              </a:spcAft>
              <a:defRPr sz="2000"/>
            </a:pPr>
            <a:r>
              <a:t>✓ Относительно стабильный, но есть spikes</a:t>
            </a:r>
          </a:p>
          <a:p>
            <a:pPr>
              <a:spcAft>
                <a:spcPts val="1200"/>
              </a:spcAft>
              <a:defRPr sz="2000"/>
            </a:pPr>
            <a:endParaRPr/>
          </a:p>
          <a:p>
            <a:pPr>
              <a:spcAft>
                <a:spcPts val="1200"/>
              </a:spcAft>
              <a:defRPr sz="2000"/>
            </a:pPr>
            <a:r>
              <a:t>Q4: Можно ли группировать источники?</a:t>
            </a:r>
          </a:p>
          <a:p>
            <a:pPr>
              <a:spcAft>
                <a:spcPts val="1200"/>
              </a:spcAft>
              <a:defRPr sz="2000"/>
            </a:pPr>
            <a:r>
              <a:t>✓ Да. Geopolitical sources кластеризуются вместе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Практическое применение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Область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Применение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Медиа-мониторинг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Отслеживание тона публикаций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 / Репутация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Выявление негативного 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Кризисные коммуникации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Раннее обнаружение spikes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Контент-стратегия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Понимание резонансных тем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Технологический стек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Категория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Технологии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pandas, numpy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spaCy, NLTK, sentence-transformers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scikit-learn, transformers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Topic 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BERTopic, UMAP, HDBSCAN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Streamlit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Ограничения и улучшения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Ограничения</a:t>
            </a:r>
          </a:p>
          <a:p>
            <a:pPr>
              <a:defRPr sz="1800"/>
            </a:pPr>
            <a:r>
              <a:t>• Короткий период (34 дня)</a:t>
            </a:r>
          </a:p>
          <a:p>
            <a:pPr>
              <a:defRPr sz="1800"/>
            </a:pPr>
            <a:r>
              <a:t>• BERT trained на своих labels</a:t>
            </a:r>
          </a:p>
          <a:p>
            <a:pPr>
              <a:defRPr sz="1800"/>
            </a:pPr>
            <a:r>
              <a:t>• English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Улучшения</a:t>
            </a:r>
          </a:p>
          <a:p>
            <a:pPr>
              <a:defRPr sz="1800"/>
            </a:pPr>
            <a:r>
              <a:t>• Больше данных (seasonality)</a:t>
            </a:r>
          </a:p>
          <a:p>
            <a:pPr>
              <a:defRPr sz="1800"/>
            </a:pPr>
            <a:r>
              <a:t>• Cross-lingual embeddings</a:t>
            </a:r>
          </a:p>
          <a:p>
            <a:pPr>
              <a:defRPr sz="1800"/>
            </a:pPr>
            <a:r>
              <a:t>• Online learning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Live Demo — Streamlit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http://localhost:8502</a:t>
            </a:r>
          </a:p>
          <a:p>
            <a:pPr>
              <a:spcAft>
                <a:spcPts val="1200"/>
              </a:spcAft>
              <a:defRPr sz="2000"/>
            </a:pPr>
            <a:endParaRPr/>
          </a:p>
          <a:p>
            <a:pPr>
              <a:spcAft>
                <a:spcPts val="1200"/>
              </a:spcAft>
              <a:defRPr sz="2000"/>
            </a:pPr>
            <a:r>
              <a:t>Вкладки:</a:t>
            </a:r>
          </a:p>
          <a:p>
            <a:pPr>
              <a:spcAft>
                <a:spcPts val="1200"/>
              </a:spcAft>
              <a:defRPr sz="2000"/>
            </a:pPr>
            <a:r>
              <a:t>1. Live Inference — анализ новых заголовков</a:t>
            </a:r>
          </a:p>
          <a:p>
            <a:pPr>
              <a:spcAft>
                <a:spcPts val="1200"/>
              </a:spcAft>
              <a:defRPr sz="2000"/>
            </a:pPr>
            <a:r>
              <a:t>2. Overview — ключевые метрики</a:t>
            </a:r>
          </a:p>
          <a:p>
            <a:pPr>
              <a:spcAft>
                <a:spcPts val="1200"/>
              </a:spcAft>
              <a:defRPr sz="2000"/>
            </a:pPr>
            <a:r>
              <a:t>3. Semantic Map — UMAP визуализация</a:t>
            </a:r>
          </a:p>
          <a:p>
            <a:pPr>
              <a:spcAft>
                <a:spcPts val="1200"/>
              </a:spcAft>
              <a:defRPr sz="2000"/>
            </a:pPr>
            <a:r>
              <a:t>4. Temporal Analysis — sentiment по источникам</a:t>
            </a:r>
          </a:p>
          <a:p>
            <a:pPr>
              <a:spcAft>
                <a:spcPts val="1200"/>
              </a:spcAft>
              <a:defRPr sz="2000"/>
            </a:pPr>
            <a:r>
              <a:t>5. Source Comparison — сравнение источников</a:t>
            </a:r>
          </a:p>
          <a:p>
            <a:pPr>
              <a:spcAft>
                <a:spcPts val="1200"/>
              </a:spcAft>
              <a:defRPr sz="2000"/>
            </a:pPr>
            <a:r>
              <a:t>6. Article Explorer — поиск статей</a:t>
            </a:r>
          </a:p>
          <a:p>
            <a:pPr>
              <a:spcAft>
                <a:spcPts val="1200"/>
              </a:spcAft>
              <a:defRPr sz="2000"/>
            </a:pPr>
            <a:r>
              <a:t>7. Model Performance — сравнение моделей</a:t>
            </a:r>
          </a:p>
          <a:p>
            <a:pPr>
              <a:spcAft>
                <a:spcPts val="1200"/>
              </a:spcAft>
              <a:defRPr sz="2000"/>
            </a:pPr>
            <a:r>
              <a:t>8. BERTopic Analysis — topic modeling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Q&amp;A — Возможные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Почему BERT 94%, а baseline 76%?</a:t>
            </a:r>
          </a:p>
          <a:p>
            <a:pPr>
              <a:spcAft>
                <a:spcPts val="1200"/>
              </a:spcAft>
              <a:defRPr sz="2000"/>
            </a:pPr>
            <a:r>
              <a:t>→ BERT fine-tuned на данных той же модели. Это upper bound.</a:t>
            </a:r>
          </a:p>
          <a:p>
            <a:pPr>
              <a:spcAft>
                <a:spcPts val="1200"/>
              </a:spcAft>
              <a:defRPr sz="2000"/>
            </a:pPr>
            <a:endParaRPr/>
          </a:p>
          <a:p>
            <a:pPr>
              <a:spcAft>
                <a:spcPts val="1200"/>
              </a:spcAft>
              <a:defRPr sz="2000"/>
            </a:pPr>
            <a:r>
              <a:t>Почему не GPT/ChatGPT?</a:t>
            </a:r>
          </a:p>
          <a:p>
            <a:pPr>
              <a:spcAft>
                <a:spcPts val="1200"/>
              </a:spcAft>
              <a:defRPr sz="2000"/>
            </a:pPr>
            <a:r>
              <a:t>→ Датасет уже размечен, API costs высокие для 30K+ документов</a:t>
            </a:r>
          </a:p>
          <a:p>
            <a:pPr>
              <a:spcAft>
                <a:spcPts val="1200"/>
              </a:spcAft>
              <a:defRPr sz="2000"/>
            </a:pPr>
            <a:endParaRPr/>
          </a:p>
          <a:p>
            <a:pPr>
              <a:spcAft>
                <a:spcPts val="1200"/>
              </a:spcAft>
              <a:defRPr sz="2000"/>
            </a:pPr>
            <a:r>
              <a:t>Как масштабировать на другие языки?</a:t>
            </a:r>
          </a:p>
          <a:p>
            <a:pPr>
              <a:spcAft>
                <a:spcPts val="1200"/>
              </a:spcAft>
              <a:defRPr sz="2000"/>
            </a:pPr>
            <a:r>
              <a:t>→ Multilingual embeddings (paraphrase-multilingual-MiniLM)</a:t>
            </a:r>
          </a:p>
          <a:p>
            <a:pPr>
              <a:spcAft>
                <a:spcPts val="1200"/>
              </a:spcAft>
              <a:defRPr sz="2000"/>
            </a:pPr>
            <a:endParaRPr/>
          </a:p>
          <a:p>
            <a:pPr>
              <a:spcAft>
                <a:spcPts val="1200"/>
              </a:spcAft>
              <a:defRPr sz="2000"/>
            </a:pPr>
            <a:r>
              <a:t>Почему 3 кластера?</a:t>
            </a:r>
          </a:p>
          <a:p>
            <a:pPr>
              <a:spcAft>
                <a:spcPts val="1200"/>
              </a:spcAft>
              <a:defRPr sz="2000"/>
            </a:pPr>
            <a:r>
              <a:t>→ Silhouette score максимален при k=3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Спасибо за внимание!</a:t>
            </a:r>
          </a:p>
          <a:p>
            <a:pPr algn="ctr">
              <a:defRPr sz="2400"/>
            </a:pPr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3</TotalTime>
  <Words>853</Words>
  <Application>Microsoft Macintosh PowerPoint</Application>
  <PresentationFormat>Widescreen</PresentationFormat>
  <Paragraphs>270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Franklin Gothic Book</vt:lpstr>
      <vt:lpstr>Crop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Ilgiz Nurlanov</cp:lastModifiedBy>
  <cp:revision>2</cp:revision>
  <dcterms:created xsi:type="dcterms:W3CDTF">2013-01-27T09:14:16Z</dcterms:created>
  <dcterms:modified xsi:type="dcterms:W3CDTF">2026-03-05T15:13:00Z</dcterms:modified>
  <cp:category/>
</cp:coreProperties>
</file>